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XeRlY3io.mp4" Type="http://schemas.microsoft.com/office/2007/relationships/media"/><Relationship Id="rId2" Target="../media/image22.jpeg" Type="http://schemas.openxmlformats.org/officeDocument/2006/relationships/image"/><Relationship Id="rId3" Target="../media/VAHXeb6m5UU.mp4" Type="http://schemas.openxmlformats.org/officeDocument/2006/relationships/video"/><Relationship Id="rId4" Target="../media/VAHXeb6m5UU.mp4" Type="http://schemas.microsoft.com/office/2007/relationships/media"/><Relationship Id="rId5" Target="../media/image23.jpeg" Type="http://schemas.openxmlformats.org/officeDocument/2006/relationships/image"/><Relationship Id="rId6" Target="../media/VAHXeRmMFMs.mp4" Type="http://schemas.openxmlformats.org/officeDocument/2006/relationships/video"/><Relationship Id="rId7" Target="../media/VAHXeRmMFMs.mp4" Type="http://schemas.microsoft.com/office/2007/relationships/media"/><Relationship Id="rId8" Target="../media/image24.jpeg" Type="http://schemas.openxmlformats.org/officeDocument/2006/relationships/image"/><Relationship Id="rId9" Target="../media/VAHXeRlY3io.mp4" Type="http://schemas.openxmlformats.org/officeDocument/2006/relationships/video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4416" y="282574"/>
            <a:ext cx="16064353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INFODUOC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259300" y="0"/>
            <a:ext cx="1028700" cy="1004395"/>
            <a:chOff x="0" y="0"/>
            <a:chExt cx="270933" cy="2645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258300"/>
            <a:ext cx="1028700" cy="1004395"/>
            <a:chOff x="0" y="0"/>
            <a:chExt cx="270933" cy="264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82605"/>
            <a:ext cx="1028700" cy="1004395"/>
            <a:chOff x="0" y="0"/>
            <a:chExt cx="270933" cy="2645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24305"/>
            <a:ext cx="1028700" cy="1004395"/>
            <a:chOff x="0" y="0"/>
            <a:chExt cx="270933" cy="264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818201" y="3311758"/>
            <a:ext cx="9314867" cy="2145833"/>
          </a:xfrm>
          <a:custGeom>
            <a:avLst/>
            <a:gdLst/>
            <a:ahLst/>
            <a:cxnLst/>
            <a:rect r="r" b="b" t="t" l="l"/>
            <a:pathLst>
              <a:path h="2145833" w="9314867">
                <a:moveTo>
                  <a:pt x="0" y="0"/>
                </a:moveTo>
                <a:lnTo>
                  <a:pt x="9314868" y="0"/>
                </a:lnTo>
                <a:lnTo>
                  <a:pt x="9314868" y="2145834"/>
                </a:lnTo>
                <a:lnTo>
                  <a:pt x="0" y="2145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18201" y="5457592"/>
            <a:ext cx="4988748" cy="2461607"/>
          </a:xfrm>
          <a:custGeom>
            <a:avLst/>
            <a:gdLst/>
            <a:ahLst/>
            <a:cxnLst/>
            <a:rect r="r" b="b" t="t" l="l"/>
            <a:pathLst>
              <a:path h="2461607" w="4988748">
                <a:moveTo>
                  <a:pt x="0" y="0"/>
                </a:moveTo>
                <a:lnTo>
                  <a:pt x="4988749" y="0"/>
                </a:lnTo>
                <a:lnTo>
                  <a:pt x="4988749" y="2461607"/>
                </a:lnTo>
                <a:lnTo>
                  <a:pt x="0" y="2461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8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806950" y="5457592"/>
            <a:ext cx="4326119" cy="2461607"/>
          </a:xfrm>
          <a:custGeom>
            <a:avLst/>
            <a:gdLst/>
            <a:ahLst/>
            <a:cxnLst/>
            <a:rect r="r" b="b" t="t" l="l"/>
            <a:pathLst>
              <a:path h="2461607" w="4326119">
                <a:moveTo>
                  <a:pt x="0" y="0"/>
                </a:moveTo>
                <a:lnTo>
                  <a:pt x="4326119" y="0"/>
                </a:lnTo>
                <a:lnTo>
                  <a:pt x="4326119" y="2461607"/>
                </a:lnTo>
                <a:lnTo>
                  <a:pt x="0" y="2461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12575" y="7929492"/>
            <a:ext cx="4791891" cy="2357508"/>
          </a:xfrm>
          <a:custGeom>
            <a:avLst/>
            <a:gdLst/>
            <a:ahLst/>
            <a:cxnLst/>
            <a:rect r="r" b="b" t="t" l="l"/>
            <a:pathLst>
              <a:path h="2357508" w="4791891">
                <a:moveTo>
                  <a:pt x="0" y="0"/>
                </a:moveTo>
                <a:lnTo>
                  <a:pt x="4791891" y="0"/>
                </a:lnTo>
                <a:lnTo>
                  <a:pt x="4791891" y="2357508"/>
                </a:lnTo>
                <a:lnTo>
                  <a:pt x="0" y="2357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4350" y="1895475"/>
            <a:ext cx="17260666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SISTEMA DE ORIENTACIÓN ESPACIAL (PWA / TÓTEMS)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57278" y="5067300"/>
            <a:ext cx="5398368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INTEGRANTES: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VICENTE SALINAS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BENJAMÍN NUÑEZ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BRANDON MONSALVE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57278" y="7336813"/>
            <a:ext cx="539836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SECCION: </a:t>
            </a: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001D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57278" y="8177576"/>
            <a:ext cx="648672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PROFESORA: </a:t>
            </a: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KARLA ROCO RAMIREZ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57278" y="9018338"/>
            <a:ext cx="648672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ASIGNATURA: </a:t>
            </a:r>
            <a:r>
              <a:rPr lang="en-US" sz="26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53593" cy="1028700"/>
            <a:chOff x="0" y="0"/>
            <a:chExt cx="277489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4893" y="24305"/>
            <a:ext cx="1053593" cy="1028700"/>
            <a:chOff x="0" y="0"/>
            <a:chExt cx="277489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26796" y="2405610"/>
            <a:ext cx="6640794" cy="6009918"/>
          </a:xfrm>
          <a:custGeom>
            <a:avLst/>
            <a:gdLst/>
            <a:ahLst/>
            <a:cxnLst/>
            <a:rect r="r" b="b" t="t" l="l"/>
            <a:pathLst>
              <a:path h="6009918" w="6640794">
                <a:moveTo>
                  <a:pt x="0" y="0"/>
                </a:moveTo>
                <a:lnTo>
                  <a:pt x="6640794" y="0"/>
                </a:lnTo>
                <a:lnTo>
                  <a:pt x="6640794" y="6009918"/>
                </a:lnTo>
                <a:lnTo>
                  <a:pt x="0" y="6009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89365" y="2215110"/>
            <a:ext cx="756993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CCION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3435" y="3466615"/>
            <a:ext cx="9505865" cy="470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  <a:spcBef>
                <a:spcPct val="0"/>
              </a:spcBef>
            </a:pPr>
            <a:r>
              <a:rPr lang="en-US" sz="268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InfoDuoc San J</a:t>
            </a:r>
            <a:r>
              <a:rPr lang="en-US" sz="268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oaquín resuelve la desorientación espacial en el campus y la dispersión de avisos mediante una plataforma digital interactiva que integra mapas vectoriales SVG por pisos, búsqueda inteligente de aulas y control de aforos en tiempo real. Desarrollada bajo el stack MERN como una Aplicación Web Progresiva (PWA), la solución está optimizada para tótems táctiles en Modo Kiosco, ofreciendo accesibilidad universal y operatividad offline mediante Service Workers.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893" y="4399495"/>
            <a:ext cx="8604757" cy="4130283"/>
          </a:xfrm>
          <a:custGeom>
            <a:avLst/>
            <a:gdLst/>
            <a:ahLst/>
            <a:cxnLst/>
            <a:rect r="r" b="b" t="t" l="l"/>
            <a:pathLst>
              <a:path h="4130283" w="8604757">
                <a:moveTo>
                  <a:pt x="0" y="0"/>
                </a:moveTo>
                <a:lnTo>
                  <a:pt x="8604757" y="0"/>
                </a:lnTo>
                <a:lnTo>
                  <a:pt x="8604757" y="4130283"/>
                </a:lnTo>
                <a:lnTo>
                  <a:pt x="0" y="4130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62507" y="4399495"/>
            <a:ext cx="8625493" cy="4140237"/>
          </a:xfrm>
          <a:custGeom>
            <a:avLst/>
            <a:gdLst/>
            <a:ahLst/>
            <a:cxnLst/>
            <a:rect r="r" b="b" t="t" l="l"/>
            <a:pathLst>
              <a:path h="4140237" w="8625493">
                <a:moveTo>
                  <a:pt x="0" y="0"/>
                </a:moveTo>
                <a:lnTo>
                  <a:pt x="8625493" y="0"/>
                </a:lnTo>
                <a:lnTo>
                  <a:pt x="8625493" y="4140237"/>
                </a:lnTo>
                <a:lnTo>
                  <a:pt x="0" y="4140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16897" y="336002"/>
            <a:ext cx="16146076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ACTUAL Y PROPUESTA DE VALOR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893" y="24305"/>
            <a:ext cx="1028700" cy="1004395"/>
            <a:chOff x="0" y="0"/>
            <a:chExt cx="270933" cy="264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46854" y="9258300"/>
            <a:ext cx="1053593" cy="1028700"/>
            <a:chOff x="0" y="0"/>
            <a:chExt cx="277489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72723" y="3493350"/>
            <a:ext cx="7309097" cy="70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Est</a:t>
            </a:r>
            <a:r>
              <a:rPr lang="en-US" b="true" sz="39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ado Actual del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0992" y="3493349"/>
            <a:ext cx="4848523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9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ropuesta de Valor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3610" y="4824169"/>
            <a:ext cx="7687323" cy="322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9"/>
              </a:lnSpc>
            </a:pPr>
            <a:r>
              <a:rPr lang="en-US" sz="2628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Hemos completado la estructura de la base de datos NoSQL en MongoDB con Mongoose y la </a:t>
            </a:r>
            <a:r>
              <a:rPr lang="en-US" sz="2628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API REST en Express con autenticación JWT. Actualmente, el desarrollo se concentra en la SPA en React, integrando el visor de mapas vectoriales por pisos y el catálogo de eventos.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31592" y="4819192"/>
            <a:ext cx="7687323" cy="322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9"/>
              </a:lnSpc>
            </a:pPr>
            <a:r>
              <a:rPr lang="en-US" sz="2628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Entregamos una experiencia de navegación fluida dentro de la sede mediante mapas SVG livianos y u</a:t>
            </a:r>
            <a:r>
              <a:rPr lang="en-US" sz="2628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 buscador inteligente de aulas. La PWA en Modo Kiosco garantiza disponibilidad ininterrumpida en tótems táctiles, con accesibilidad universal y soporte offline.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9258300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893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0"/>
            <a:ext cx="1053593" cy="1028700"/>
            <a:chOff x="0" y="0"/>
            <a:chExt cx="277489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255367" y="1746943"/>
          <a:ext cx="25146000" cy="8039100"/>
        </p:xfrm>
        <a:graphic>
          <a:graphicData uri="http://schemas.openxmlformats.org/presentationml/2006/ole">
            <p:oleObj imgW="30175200" imgH="13068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381559" y="669377"/>
            <a:ext cx="72972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CARTA GANTT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340128" y="430435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4350" y="573692"/>
            <a:ext cx="12553880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AJUSTES A LA PR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OPUESTA (DIFICULTADES Y FACILITADORES)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27245"/>
            <a:ext cx="8448460" cy="587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9433" indent="-259716" lvl="1">
              <a:lnSpc>
                <a:spcPts val="33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Facilitad</a:t>
            </a:r>
            <a:r>
              <a:rPr lang="en-US" b="true" sz="240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ores</a:t>
            </a:r>
            <a:r>
              <a:rPr lang="en-US" sz="2405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: El diseño flexible de bases de datos NoSQL y el uso de herramientas de control de versiones (GitHub) permitieron una organización fluida del equipo.</a:t>
            </a:r>
          </a:p>
          <a:p>
            <a:pPr algn="just">
              <a:lnSpc>
                <a:spcPts val="3368"/>
              </a:lnSpc>
              <a:spcBef>
                <a:spcPct val="0"/>
              </a:spcBef>
            </a:pPr>
          </a:p>
          <a:p>
            <a:pPr algn="just" marL="519433" indent="-259716" lvl="1">
              <a:lnSpc>
                <a:spcPts val="33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Dificultades</a:t>
            </a:r>
            <a:r>
              <a:rPr lang="en-US" sz="2405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: La integración y fluidez gráfica del mapa interactivo, presentaron los mayores retos.</a:t>
            </a:r>
          </a:p>
          <a:p>
            <a:pPr algn="just">
              <a:lnSpc>
                <a:spcPts val="3368"/>
              </a:lnSpc>
              <a:spcBef>
                <a:spcPct val="0"/>
              </a:spcBef>
            </a:pPr>
          </a:p>
          <a:p>
            <a:pPr algn="just" marL="519433" indent="-259716" lvl="1">
              <a:lnSpc>
                <a:spcPts val="33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5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Ajustes Realizados</a:t>
            </a:r>
            <a:r>
              <a:rPr lang="en-US" sz="2405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: Se descartó el desarrollo de la aplicación nativa (APK) para destinar el 100% de los recursos a perfeccionar la plataforma Web. Adicionalmente, se preparó un mapa estático de contingencia para asegurar la entrega funcional.</a:t>
            </a:r>
          </a:p>
          <a:p>
            <a:pPr algn="just">
              <a:lnSpc>
                <a:spcPts val="3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76444" y="-292238"/>
            <a:ext cx="1028700" cy="1028700"/>
            <a:chOff x="0" y="0"/>
            <a:chExt cx="27093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4802" y="-292238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76444" y="9784802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17144" y="9655747"/>
            <a:ext cx="933384" cy="966141"/>
            <a:chOff x="0" y="0"/>
            <a:chExt cx="245830" cy="254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5830" cy="254457"/>
            </a:xfrm>
            <a:custGeom>
              <a:avLst/>
              <a:gdLst/>
              <a:ahLst/>
              <a:cxnLst/>
              <a:rect r="r" b="b" t="t" l="l"/>
              <a:pathLst>
                <a:path h="254457" w="245830">
                  <a:moveTo>
                    <a:pt x="0" y="0"/>
                  </a:moveTo>
                  <a:lnTo>
                    <a:pt x="245830" y="0"/>
                  </a:lnTo>
                  <a:lnTo>
                    <a:pt x="245830" y="254457"/>
                  </a:lnTo>
                  <a:lnTo>
                    <a:pt x="0" y="254457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5830" cy="29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88523" y="2688756"/>
            <a:ext cx="2792336" cy="2792336"/>
          </a:xfrm>
          <a:custGeom>
            <a:avLst/>
            <a:gdLst/>
            <a:ahLst/>
            <a:cxnLst/>
            <a:rect r="r" b="b" t="t" l="l"/>
            <a:pathLst>
              <a:path h="2792336" w="2792336">
                <a:moveTo>
                  <a:pt x="0" y="0"/>
                </a:moveTo>
                <a:lnTo>
                  <a:pt x="2792336" y="0"/>
                </a:lnTo>
                <a:lnTo>
                  <a:pt x="2792336" y="2792336"/>
                </a:lnTo>
                <a:lnTo>
                  <a:pt x="0" y="2792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65921" y="2770185"/>
            <a:ext cx="2792336" cy="2792336"/>
          </a:xfrm>
          <a:custGeom>
            <a:avLst/>
            <a:gdLst/>
            <a:ahLst/>
            <a:cxnLst/>
            <a:rect r="r" b="b" t="t" l="l"/>
            <a:pathLst>
              <a:path h="2792336" w="2792336">
                <a:moveTo>
                  <a:pt x="0" y="0"/>
                </a:moveTo>
                <a:lnTo>
                  <a:pt x="2792336" y="0"/>
                </a:lnTo>
                <a:lnTo>
                  <a:pt x="2792336" y="2792336"/>
                </a:lnTo>
                <a:lnTo>
                  <a:pt x="0" y="2792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39811" y="2356255"/>
            <a:ext cx="3620196" cy="3620196"/>
          </a:xfrm>
          <a:custGeom>
            <a:avLst/>
            <a:gdLst/>
            <a:ahLst/>
            <a:cxnLst/>
            <a:rect r="r" b="b" t="t" l="l"/>
            <a:pathLst>
              <a:path h="3620196" w="3620196">
                <a:moveTo>
                  <a:pt x="0" y="0"/>
                </a:moveTo>
                <a:lnTo>
                  <a:pt x="3620196" y="0"/>
                </a:lnTo>
                <a:lnTo>
                  <a:pt x="3620196" y="3620196"/>
                </a:lnTo>
                <a:lnTo>
                  <a:pt x="0" y="3620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6241" y="6170452"/>
            <a:ext cx="5689534" cy="3614350"/>
          </a:xfrm>
          <a:custGeom>
            <a:avLst/>
            <a:gdLst/>
            <a:ahLst/>
            <a:cxnLst/>
            <a:rect r="r" b="b" t="t" l="l"/>
            <a:pathLst>
              <a:path h="3614350" w="5689534">
                <a:moveTo>
                  <a:pt x="0" y="0"/>
                </a:moveTo>
                <a:lnTo>
                  <a:pt x="5689534" y="0"/>
                </a:lnTo>
                <a:lnTo>
                  <a:pt x="5689534" y="3614350"/>
                </a:lnTo>
                <a:lnTo>
                  <a:pt x="0" y="36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449" b="0"/>
            </a:stretch>
          </a:blipFill>
          <a:ln w="66675" cap="sq">
            <a:solidFill>
              <a:srgbClr val="E60012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171575"/>
            <a:ext cx="9899077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MONITOREO DEL PLA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 DE TRABAJO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453" y="6192292"/>
            <a:ext cx="5281769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rganización del trabajo en sprints con seguimiento continuo de tareas (Pendiente, En Proceso, Finalizado) para priorizar los desarrollos clave de la Fase 2.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Control de Versiones y Trazabilidad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821204" y="6663041"/>
            <a:ext cx="5281769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 de Git/GitHub mediante flujo de ramas (GitFlow) y revisiones de código, asegurando la calidad técnica y la trazabilidad de cada módulo.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5956" y="6334492"/>
            <a:ext cx="528176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Sup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ervisión semanal de tiempos e hitos para prevenir desviaciones, garantizando el cumplimiento puntual de la documentación, modelos MERN y la PWA.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610691" y="6319739"/>
            <a:ext cx="5689534" cy="2646829"/>
          </a:xfrm>
          <a:custGeom>
            <a:avLst/>
            <a:gdLst/>
            <a:ahLst/>
            <a:cxnLst/>
            <a:rect r="r" b="b" t="t" l="l"/>
            <a:pathLst>
              <a:path h="2646829" w="5689534">
                <a:moveTo>
                  <a:pt x="0" y="0"/>
                </a:moveTo>
                <a:lnTo>
                  <a:pt x="5689534" y="0"/>
                </a:lnTo>
                <a:lnTo>
                  <a:pt x="5689534" y="2646829"/>
                </a:lnTo>
                <a:lnTo>
                  <a:pt x="0" y="2646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449" b="-36553"/>
            </a:stretch>
          </a:blipFill>
          <a:ln w="66675" cap="sq">
            <a:solidFill>
              <a:srgbClr val="E60012"/>
            </a:solidFill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2505142" y="6170452"/>
            <a:ext cx="5689534" cy="3026831"/>
          </a:xfrm>
          <a:custGeom>
            <a:avLst/>
            <a:gdLst/>
            <a:ahLst/>
            <a:cxnLst/>
            <a:rect r="r" b="b" t="t" l="l"/>
            <a:pathLst>
              <a:path h="3026831" w="5689534">
                <a:moveTo>
                  <a:pt x="0" y="0"/>
                </a:moveTo>
                <a:lnTo>
                  <a:pt x="5689534" y="0"/>
                </a:lnTo>
                <a:lnTo>
                  <a:pt x="5689534" y="3026831"/>
                </a:lnTo>
                <a:lnTo>
                  <a:pt x="0" y="3026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449" b="-19410"/>
            </a:stretch>
          </a:blipFill>
          <a:ln w="66675" cap="sq">
            <a:solidFill>
              <a:srgbClr val="E60012"/>
            </a:solidFill>
            <a:prstDash val="solid"/>
            <a:miter/>
          </a:ln>
        </p:spPr>
      </p:sp>
      <p:sp>
        <p:nvSpPr>
          <p:cNvPr name="TextBox 24" id="24"/>
          <p:cNvSpPr txBox="true"/>
          <p:nvPr/>
        </p:nvSpPr>
        <p:spPr>
          <a:xfrm rot="0">
            <a:off x="333016" y="5407182"/>
            <a:ext cx="630334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</a:t>
            </a:r>
            <a:r>
              <a:rPr lang="en-US" b="true" sz="2200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y Organización (Scrum / Kanban)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90681" y="5407182"/>
            <a:ext cx="472955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</a:t>
            </a:r>
            <a:r>
              <a:rPr lang="en-US" b="true" sz="2200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Versiones y Trazabilidad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85131" y="5407182"/>
            <a:ext cx="472955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Cumplimiento</a:t>
            </a:r>
            <a:r>
              <a:rPr lang="en-US" b="true" sz="2200">
                <a:solidFill>
                  <a:srgbClr val="1A1C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Hitos y Carta Gantt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9749" y="9556873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49301" y="9556873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24408" y="-244287"/>
            <a:ext cx="1053593" cy="1028700"/>
            <a:chOff x="0" y="0"/>
            <a:chExt cx="277489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4856" y="-219982"/>
            <a:ext cx="1028700" cy="1004395"/>
            <a:chOff x="0" y="0"/>
            <a:chExt cx="270933" cy="264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73844" y="1869966"/>
            <a:ext cx="2718407" cy="2678626"/>
          </a:xfrm>
          <a:custGeom>
            <a:avLst/>
            <a:gdLst/>
            <a:ahLst/>
            <a:cxnLst/>
            <a:rect r="r" b="b" t="t" l="l"/>
            <a:pathLst>
              <a:path h="2678626" w="2718407">
                <a:moveTo>
                  <a:pt x="0" y="0"/>
                </a:moveTo>
                <a:lnTo>
                  <a:pt x="2718407" y="0"/>
                </a:lnTo>
                <a:lnTo>
                  <a:pt x="2718407" y="2678625"/>
                </a:lnTo>
                <a:lnTo>
                  <a:pt x="0" y="267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793813" y="2067447"/>
            <a:ext cx="2565913" cy="2283662"/>
          </a:xfrm>
          <a:custGeom>
            <a:avLst/>
            <a:gdLst/>
            <a:ahLst/>
            <a:cxnLst/>
            <a:rect r="r" b="b" t="t" l="l"/>
            <a:pathLst>
              <a:path h="2283662" w="2565913">
                <a:moveTo>
                  <a:pt x="0" y="0"/>
                </a:moveTo>
                <a:lnTo>
                  <a:pt x="2565913" y="0"/>
                </a:lnTo>
                <a:lnTo>
                  <a:pt x="2565913" y="2283663"/>
                </a:lnTo>
                <a:lnTo>
                  <a:pt x="0" y="2283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98188" y="362808"/>
            <a:ext cx="2127333" cy="2127333"/>
          </a:xfrm>
          <a:custGeom>
            <a:avLst/>
            <a:gdLst/>
            <a:ahLst/>
            <a:cxnLst/>
            <a:rect r="r" b="b" t="t" l="l"/>
            <a:pathLst>
              <a:path h="2127333" w="2127333">
                <a:moveTo>
                  <a:pt x="0" y="0"/>
                </a:moveTo>
                <a:lnTo>
                  <a:pt x="2127333" y="0"/>
                </a:lnTo>
                <a:lnTo>
                  <a:pt x="2127333" y="2127333"/>
                </a:lnTo>
                <a:lnTo>
                  <a:pt x="0" y="2127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78459" y="362808"/>
            <a:ext cx="2127333" cy="2127333"/>
          </a:xfrm>
          <a:custGeom>
            <a:avLst/>
            <a:gdLst/>
            <a:ahLst/>
            <a:cxnLst/>
            <a:rect r="r" b="b" t="t" l="l"/>
            <a:pathLst>
              <a:path h="2127333" w="2127333">
                <a:moveTo>
                  <a:pt x="0" y="0"/>
                </a:moveTo>
                <a:lnTo>
                  <a:pt x="2127333" y="0"/>
                </a:lnTo>
                <a:lnTo>
                  <a:pt x="2127333" y="2127333"/>
                </a:lnTo>
                <a:lnTo>
                  <a:pt x="0" y="21273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781946" y="2252876"/>
            <a:ext cx="2026988" cy="2026988"/>
          </a:xfrm>
          <a:custGeom>
            <a:avLst/>
            <a:gdLst/>
            <a:ahLst/>
            <a:cxnLst/>
            <a:rect r="r" b="b" t="t" l="l"/>
            <a:pathLst>
              <a:path h="2026988" w="2026988">
                <a:moveTo>
                  <a:pt x="0" y="0"/>
                </a:moveTo>
                <a:lnTo>
                  <a:pt x="2026988" y="0"/>
                </a:lnTo>
                <a:lnTo>
                  <a:pt x="2026988" y="2026988"/>
                </a:lnTo>
                <a:lnTo>
                  <a:pt x="0" y="20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73526" y="2602486"/>
            <a:ext cx="1620287" cy="1620287"/>
          </a:xfrm>
          <a:custGeom>
            <a:avLst/>
            <a:gdLst/>
            <a:ahLst/>
            <a:cxnLst/>
            <a:rect r="r" b="b" t="t" l="l"/>
            <a:pathLst>
              <a:path h="1620287" w="1620287">
                <a:moveTo>
                  <a:pt x="0" y="0"/>
                </a:moveTo>
                <a:lnTo>
                  <a:pt x="1620287" y="0"/>
                </a:lnTo>
                <a:lnTo>
                  <a:pt x="1620287" y="1620287"/>
                </a:lnTo>
                <a:lnTo>
                  <a:pt x="0" y="16202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9715" y="696183"/>
            <a:ext cx="862553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AVA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 TÉCNICO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0729" y="6078900"/>
            <a:ext cx="7018919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esarrollo de la SPA con mapas vectoriales SVG por pisos, motor de búsqueda flexible  para ubicación de aulas y maquetación accesible diseñada para tótems táctiles.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7760" y="6297975"/>
            <a:ext cx="8675891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REST con autenticación JWT y persistencia de datos en MongoDB. Configuración de Service Workers y estrategias de caché para asegurar funcionamiento offline en Modo Kiosco.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3844" y="4691466"/>
            <a:ext cx="6585882" cy="1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</a:t>
            </a:r>
            <a:r>
              <a:rPr lang="en-US" b="true" sz="39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d y Experiencia de Usuario (React + Vite)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7760" y="4785570"/>
            <a:ext cx="8675891" cy="1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</a:t>
            </a:r>
            <a:r>
              <a:rPr lang="en-US" b="true" sz="39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d y Progresividad (Node.js + Express + MongoDB)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-102190" y="4558372"/>
            <a:ext cx="8604757" cy="4130283"/>
          </a:xfrm>
          <a:custGeom>
            <a:avLst/>
            <a:gdLst/>
            <a:ahLst/>
            <a:cxnLst/>
            <a:rect r="r" b="b" t="t" l="l"/>
            <a:pathLst>
              <a:path h="4130283" w="8604757">
                <a:moveTo>
                  <a:pt x="0" y="0"/>
                </a:moveTo>
                <a:lnTo>
                  <a:pt x="8604757" y="0"/>
                </a:lnTo>
                <a:lnTo>
                  <a:pt x="8604757" y="4130283"/>
                </a:lnTo>
                <a:lnTo>
                  <a:pt x="0" y="4130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819651" y="4351110"/>
            <a:ext cx="9468349" cy="4544808"/>
          </a:xfrm>
          <a:custGeom>
            <a:avLst/>
            <a:gdLst/>
            <a:ahLst/>
            <a:cxnLst/>
            <a:rect r="r" b="b" t="t" l="l"/>
            <a:pathLst>
              <a:path h="4544808" w="9468349">
                <a:moveTo>
                  <a:pt x="0" y="0"/>
                </a:moveTo>
                <a:lnTo>
                  <a:pt x="9468349" y="0"/>
                </a:lnTo>
                <a:lnTo>
                  <a:pt x="9468349" y="4544807"/>
                </a:lnTo>
                <a:lnTo>
                  <a:pt x="0" y="4544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0620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258300"/>
            <a:ext cx="1028700" cy="1004395"/>
            <a:chOff x="0" y="0"/>
            <a:chExt cx="270933" cy="264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1638" r="0" b="1032"/>
          <a:stretch>
            <a:fillRect/>
          </a:stretch>
        </p:blipFill>
        <p:spPr>
          <a:xfrm flipH="false" flipV="false" rot="0">
            <a:off x="1028700" y="2011065"/>
            <a:ext cx="8115300" cy="3986445"/>
          </a:xfrm>
          <a:prstGeom prst="rect">
            <a:avLst/>
          </a:prstGeom>
        </p:spPr>
      </p:pic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657" t="10472" r="0" b="0"/>
          <a:stretch>
            <a:fillRect/>
          </a:stretch>
        </p:blipFill>
        <p:spPr>
          <a:xfrm flipH="false" flipV="false" rot="0">
            <a:off x="1028700" y="6123929"/>
            <a:ext cx="8164455" cy="4138767"/>
          </a:xfrm>
          <a:prstGeom prst="rect">
            <a:avLst/>
          </a:prstGeom>
        </p:spPr>
      </p:pic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1121" t="10605" r="1121" b="0"/>
          <a:stretch>
            <a:fillRect/>
          </a:stretch>
        </p:blipFill>
        <p:spPr>
          <a:xfrm flipH="false" flipV="false" rot="0">
            <a:off x="9553570" y="3821265"/>
            <a:ext cx="8499678" cy="4372047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207956" y="425056"/>
            <a:ext cx="1271921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 PRÁCTICA (DEMO EN V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IVO)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9258300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34407" y="0"/>
            <a:ext cx="1053593" cy="1028700"/>
            <a:chOff x="0" y="0"/>
            <a:chExt cx="277489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893" y="24305"/>
            <a:ext cx="1028700" cy="1004395"/>
            <a:chOff x="0" y="0"/>
            <a:chExt cx="270933" cy="264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810078" y="1924523"/>
            <a:ext cx="4603137" cy="6437953"/>
          </a:xfrm>
          <a:custGeom>
            <a:avLst/>
            <a:gdLst/>
            <a:ahLst/>
            <a:cxnLst/>
            <a:rect r="r" b="b" t="t" l="l"/>
            <a:pathLst>
              <a:path h="6437953" w="4603137">
                <a:moveTo>
                  <a:pt x="0" y="0"/>
                </a:moveTo>
                <a:lnTo>
                  <a:pt x="4603136" y="0"/>
                </a:lnTo>
                <a:lnTo>
                  <a:pt x="4603136" y="6437954"/>
                </a:lnTo>
                <a:lnTo>
                  <a:pt x="0" y="6437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48316" y="1863331"/>
            <a:ext cx="862553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33660" y="2949428"/>
            <a:ext cx="8458981" cy="541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En c</a:t>
            </a:r>
            <a:r>
              <a:rPr lang="en-US" sz="28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onclusión, el proyecto InfoDuoc San Joaquín representa una solución tecnológica sólida y funcional orientada a optimizar la experiencia de toda la comunidad estudiantil. A través del desarrollo de una plataforma web moderna con React y una arquitectura robusta basada en MongoDB y Node.js, hemos logrado estructurar un sistema interactivo que resuelve de manera directa los problemas de orientación espacial y acceso a la información institucional.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34407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50581" y="2733288"/>
            <a:ext cx="4820425" cy="4820425"/>
          </a:xfrm>
          <a:custGeom>
            <a:avLst/>
            <a:gdLst/>
            <a:ahLst/>
            <a:cxnLst/>
            <a:rect r="r" b="b" t="t" l="l"/>
            <a:pathLst>
              <a:path h="4820425" w="4820425">
                <a:moveTo>
                  <a:pt x="0" y="0"/>
                </a:moveTo>
                <a:lnTo>
                  <a:pt x="4820425" y="0"/>
                </a:lnTo>
                <a:lnTo>
                  <a:pt x="4820425" y="4820424"/>
                </a:lnTo>
                <a:lnTo>
                  <a:pt x="0" y="482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34589" y="3641137"/>
            <a:ext cx="6572833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MUCHAS GRACIAS POR SU ATENCION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1053593" cy="1028700"/>
            <a:chOff x="0" y="0"/>
            <a:chExt cx="277489" cy="270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893" y="9258300"/>
            <a:ext cx="1028700" cy="1004395"/>
            <a:chOff x="0" y="0"/>
            <a:chExt cx="270933" cy="2645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DAHXdpEOEq0</dc:identifier>
  <dcterms:modified xsi:type="dcterms:W3CDTF">2011-08-01T06:04:30Z</dcterms:modified>
  <cp:revision>1</cp:revision>
  <dc:title>Presentacion - Fase 2 InfoDUOC - CAPSTONE</dc:title>
</cp:coreProperties>
</file>